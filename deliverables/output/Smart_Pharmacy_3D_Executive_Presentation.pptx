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00a1f8e34c41b2" /><Relationship Type="http://schemas.openxmlformats.org/officeDocument/2006/relationships/extended-properties" Target="/docProps/app.xml" Id="R569e4c0a6e1644a4" /><Relationship Type="http://schemas.openxmlformats.org/officeDocument/2006/relationships/officeDocument" Target="/ppt/presentation.xml" Id="R088c5326fa4a41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bb0b0d2602452f"/>
  </p:sldMasterIdLst>
  <p:notesMasterIdLst>
    <p:notesMasterId xmlns:r="http://schemas.openxmlformats.org/officeDocument/2006/relationships" r:id="Rcbb0186dfa4447fc"/>
  </p:notesMasterIdLst>
  <p:sldIdLst>
    <p:sldId xmlns:r="http://schemas.openxmlformats.org/officeDocument/2006/relationships" id="256" r:id="R2d040390b4d14cd3"/>
    <p:sldId xmlns:r="http://schemas.openxmlformats.org/officeDocument/2006/relationships" id="257" r:id="R770864e7ea9d4df9"/>
    <p:sldId xmlns:r="http://schemas.openxmlformats.org/officeDocument/2006/relationships" id="258" r:id="R97a4ce911f8a4cc6"/>
    <p:sldId xmlns:r="http://schemas.openxmlformats.org/officeDocument/2006/relationships" id="259" r:id="R24c68e4b606e407b"/>
    <p:sldId xmlns:r="http://schemas.openxmlformats.org/officeDocument/2006/relationships" id="260" r:id="Rb7e68ed1f061494e"/>
    <p:sldId xmlns:r="http://schemas.openxmlformats.org/officeDocument/2006/relationships" id="261" r:id="Rebbbf97e66c74abf"/>
    <p:sldId xmlns:r="http://schemas.openxmlformats.org/officeDocument/2006/relationships" id="262" r:id="R7789978437184695"/>
    <p:sldId xmlns:r="http://schemas.openxmlformats.org/officeDocument/2006/relationships" id="263" r:id="R1abe5e0d611c4184"/>
    <p:sldId xmlns:r="http://schemas.openxmlformats.org/officeDocument/2006/relationships" id="264" r:id="R666917497b3840ac"/>
    <p:sldId xmlns:r="http://schemas.openxmlformats.org/officeDocument/2006/relationships" id="265" r:id="R4d757d4a67cf4b0e"/>
    <p:sldId xmlns:r="http://schemas.openxmlformats.org/officeDocument/2006/relationships" id="266" r:id="R6fd10d6ff9dc4040"/>
    <p:sldId xmlns:r="http://schemas.openxmlformats.org/officeDocument/2006/relationships" id="267" r:id="Rccde47020f364a2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b0b0d2602452f" /><Relationship Type="http://schemas.openxmlformats.org/officeDocument/2006/relationships/theme" Target="/ppt/theme/theme1.xml" Id="Rf4f4c78bb0104d6c" /><Relationship Type="http://schemas.openxmlformats.org/officeDocument/2006/relationships/notesMaster" Target="/ppt/notesMasters/notesMaster1.xml" Id="Rcbb0186dfa4447fc" /><Relationship Type="http://schemas.openxmlformats.org/officeDocument/2006/relationships/presProps" Target="/ppt/presProps.xml" Id="R14a7c466c451492a" /><Relationship Type="http://schemas.openxmlformats.org/officeDocument/2006/relationships/viewProps" Target="/ppt/viewProps.xml" Id="R326935756d0d4318" /><Relationship Type="http://schemas.openxmlformats.org/officeDocument/2006/relationships/tableStyles" Target="/ppt/tableStyles.xml" Id="R895ba6061f47463b" /><Relationship Type="http://schemas.openxmlformats.org/officeDocument/2006/relationships/slide" Target="/ppt/slides/slide1.xml" Id="R2d040390b4d14cd3" /><Relationship Type="http://schemas.openxmlformats.org/officeDocument/2006/relationships/slide" Target="/ppt/slides/slide2.xml" Id="R770864e7ea9d4df9" /><Relationship Type="http://schemas.openxmlformats.org/officeDocument/2006/relationships/slide" Target="/ppt/slides/slide3.xml" Id="R97a4ce911f8a4cc6" /><Relationship Type="http://schemas.openxmlformats.org/officeDocument/2006/relationships/slide" Target="/ppt/slides/slide4.xml" Id="R24c68e4b606e407b" /><Relationship Type="http://schemas.openxmlformats.org/officeDocument/2006/relationships/slide" Target="/ppt/slides/slide5.xml" Id="Rb7e68ed1f061494e" /><Relationship Type="http://schemas.openxmlformats.org/officeDocument/2006/relationships/slide" Target="/ppt/slides/slide6.xml" Id="Rebbbf97e66c74abf" /><Relationship Type="http://schemas.openxmlformats.org/officeDocument/2006/relationships/slide" Target="/ppt/slides/slide7.xml" Id="R7789978437184695" /><Relationship Type="http://schemas.openxmlformats.org/officeDocument/2006/relationships/slide" Target="/ppt/slides/slide8.xml" Id="R1abe5e0d611c4184" /><Relationship Type="http://schemas.openxmlformats.org/officeDocument/2006/relationships/slide" Target="/ppt/slides/slide9.xml" Id="R666917497b3840ac" /><Relationship Type="http://schemas.openxmlformats.org/officeDocument/2006/relationships/slide" Target="/ppt/slides/slide10.xml" Id="R4d757d4a67cf4b0e" /><Relationship Type="http://schemas.openxmlformats.org/officeDocument/2006/relationships/slide" Target="/ppt/slides/slide11.xml" Id="R6fd10d6ff9dc4040" /><Relationship Type="http://schemas.openxmlformats.org/officeDocument/2006/relationships/slide" Target="/ppt/slides/slide12.xml" Id="Rccde47020f364a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89fd8718fd84b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ea98146a4042ea" /><Relationship Type="http://schemas.openxmlformats.org/officeDocument/2006/relationships/notesMaster" Target="/ppt/notesMasters/notesMaster1.xml" Id="R2f214633776a4c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506e89b5604b72" /><Relationship Type="http://schemas.openxmlformats.org/officeDocument/2006/relationships/notesMaster" Target="/ppt/notesMasters/notesMaster1.xml" Id="R7f783e04c80246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926922d5834ab8" /><Relationship Type="http://schemas.openxmlformats.org/officeDocument/2006/relationships/notesMaster" Target="/ppt/notesMasters/notesMaster1.xml" Id="Ra96a2e5b59fd4a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4de43e08b841fd" /><Relationship Type="http://schemas.openxmlformats.org/officeDocument/2006/relationships/notesMaster" Target="/ppt/notesMasters/notesMaster1.xml" Id="R0bbf08a5f39b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9c5083ee2b419f" /><Relationship Type="http://schemas.openxmlformats.org/officeDocument/2006/relationships/notesMaster" Target="/ppt/notesMasters/notesMaster1.xml" Id="R9e69bbb4874447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61c8d9e62c4abd" /><Relationship Type="http://schemas.openxmlformats.org/officeDocument/2006/relationships/notesMaster" Target="/ppt/notesMasters/notesMaster1.xml" Id="R359f6f5a61a048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9bbe3969a34edc" /><Relationship Type="http://schemas.openxmlformats.org/officeDocument/2006/relationships/notesMaster" Target="/ppt/notesMasters/notesMaster1.xml" Id="Rff457f884ad24a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abb9a71eb947bd" /><Relationship Type="http://schemas.openxmlformats.org/officeDocument/2006/relationships/notesMaster" Target="/ppt/notesMasters/notesMaster1.xml" Id="R889620e26d8444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0a6dc52b4a4913" /><Relationship Type="http://schemas.openxmlformats.org/officeDocument/2006/relationships/notesMaster" Target="/ppt/notesMasters/notesMaster1.xml" Id="Rd45d508e2bcf4b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7e21d39cc84f7a" /><Relationship Type="http://schemas.openxmlformats.org/officeDocument/2006/relationships/notesMaster" Target="/ppt/notesMasters/notesMaster1.xml" Id="R5a4ee304dfd44c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42a95e846d4bc2" /><Relationship Type="http://schemas.openxmlformats.org/officeDocument/2006/relationships/notesMaster" Target="/ppt/notesMasters/notesMaster1.xml" Id="Rf3d8d19cda9643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1727ef75074c62" /><Relationship Type="http://schemas.openxmlformats.org/officeDocument/2006/relationships/notesMaster" Target="/ppt/notesMasters/notesMaster1.xml" Id="R74d772b2b2e441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054166c17434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51f0c2bf8fe49b8" /><Relationship Type="http://schemas.openxmlformats.org/officeDocument/2006/relationships/slideLayout" Target="/ppt/slideLayouts/slideLayout2.xml" Id="R9ac4f53087ba49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c4f53087ba49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1b32d0cf8849be" /><Relationship Type="http://schemas.openxmlformats.org/officeDocument/2006/relationships/image" Target="/ppt/media/image.png" Id="Rb0f91dcd27634db6" /><Relationship Type="http://schemas.openxmlformats.org/officeDocument/2006/relationships/image" Target="/ppt/media/image2.png" Id="Re15e238871c44e53" /><Relationship Type="http://schemas.openxmlformats.org/officeDocument/2006/relationships/image" Target="/ppt/media/image3.png" Id="R832ba4301a864cb0" /><Relationship Type="http://schemas.openxmlformats.org/officeDocument/2006/relationships/notesSlide" Target="/ppt/notesSlides/notesSlide1.xml" Id="R80fb34c5323443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b72d9f68bf4ad7" /><Relationship Type="http://schemas.openxmlformats.org/officeDocument/2006/relationships/image" Target="/ppt/media/image4.png" Id="R38810a329d7e44d0" /><Relationship Type="http://schemas.openxmlformats.org/officeDocument/2006/relationships/image" Target="/ppt/media/image5.png" Id="R94cece1b3170477c" /><Relationship Type="http://schemas.openxmlformats.org/officeDocument/2006/relationships/image" Target="/ppt/media/image6.png" Id="Rb84b3a787b9b46af" /><Relationship Type="http://schemas.openxmlformats.org/officeDocument/2006/relationships/notesSlide" Target="/ppt/notesSlides/notesSlide2.xml" Id="R4fbbf22781ec45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fece304a6d4261" /><Relationship Type="http://schemas.openxmlformats.org/officeDocument/2006/relationships/image" Target="/ppt/media/image7.png" Id="R2c54c254f6f4401d" /><Relationship Type="http://schemas.openxmlformats.org/officeDocument/2006/relationships/notesSlide" Target="/ppt/notesSlides/notesSlide3.xml" Id="Rffc9f7dd26e24e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07ffa5e80f4151" /><Relationship Type="http://schemas.openxmlformats.org/officeDocument/2006/relationships/image" Target="/ppt/media/image8.png" Id="R74458d7a07004c57" /><Relationship Type="http://schemas.openxmlformats.org/officeDocument/2006/relationships/notesSlide" Target="/ppt/notesSlides/notesSlide4.xml" Id="R91729ae589e042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6944cb453847df" /><Relationship Type="http://schemas.openxmlformats.org/officeDocument/2006/relationships/image" Target="/ppt/media/image9.png" Id="R33e7a16a74304918" /><Relationship Type="http://schemas.openxmlformats.org/officeDocument/2006/relationships/notesSlide" Target="/ppt/notesSlides/notesSlide5.xml" Id="Rbcb47220ce934f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13b7ec9fef4af6" /><Relationship Type="http://schemas.openxmlformats.org/officeDocument/2006/relationships/image" Target="/ppt/media/image10.png" Id="R4f15ddd968bf4f60" /><Relationship Type="http://schemas.openxmlformats.org/officeDocument/2006/relationships/notesSlide" Target="/ppt/notesSlides/notesSlide6.xml" Id="R27f5cf29262c47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315cf60ec0476f" /><Relationship Type="http://schemas.openxmlformats.org/officeDocument/2006/relationships/image" Target="/ppt/media/image11.png" Id="R9d6b8360bf4b454b" /><Relationship Type="http://schemas.openxmlformats.org/officeDocument/2006/relationships/image" Target="/ppt/media/image12.png" Id="Rc0efc78ced934e66" /><Relationship Type="http://schemas.openxmlformats.org/officeDocument/2006/relationships/notesSlide" Target="/ppt/notesSlides/notesSlide7.xml" Id="R9bebb83606e843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9df5e1e8414982" /><Relationship Type="http://schemas.openxmlformats.org/officeDocument/2006/relationships/image" Target="/ppt/media/image13.png" Id="R1ebd38757a5f4f80" /><Relationship Type="http://schemas.openxmlformats.org/officeDocument/2006/relationships/image" Target="/ppt/media/image14.png" Id="Ra747a6d31a2d489a" /><Relationship Type="http://schemas.openxmlformats.org/officeDocument/2006/relationships/notesSlide" Target="/ppt/notesSlides/notesSlide8.xml" Id="R4dd4788b67664c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6f6b9eca064d0c" /><Relationship Type="http://schemas.openxmlformats.org/officeDocument/2006/relationships/image" Target="/ppt/media/image15.png" Id="Rb34c0251d0ea41a3" /><Relationship Type="http://schemas.openxmlformats.org/officeDocument/2006/relationships/image" Target="/ppt/media/image16.png" Id="R4745f765b1094615" /><Relationship Type="http://schemas.openxmlformats.org/officeDocument/2006/relationships/image" Target="/ppt/media/image17.png" Id="R36a077f8c80e4c28" /><Relationship Type="http://schemas.openxmlformats.org/officeDocument/2006/relationships/notesSlide" Target="/ppt/notesSlides/notesSlide9.xml" Id="R05ed09273fbd4c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1b832e7c324afa" /><Relationship Type="http://schemas.openxmlformats.org/officeDocument/2006/relationships/image" Target="/ppt/media/image18.png" Id="R5de973ae3d8348a4" /><Relationship Type="http://schemas.openxmlformats.org/officeDocument/2006/relationships/notesSlide" Target="/ppt/notesSlides/notesSlide10.xml" Id="Rcaad1278cc4d4e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f6b06c1db54db6" /><Relationship Type="http://schemas.openxmlformats.org/officeDocument/2006/relationships/image" Target="/ppt/media/image19.png" Id="R443615f03283485c" /><Relationship Type="http://schemas.openxmlformats.org/officeDocument/2006/relationships/image" Target="/ppt/media/image20.png" Id="Re3e72b22ba764b81" /><Relationship Type="http://schemas.openxmlformats.org/officeDocument/2006/relationships/notesSlide" Target="/ppt/notesSlides/notesSlide11.xml" Id="R00cd852cffd547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69eccd7dd34741" /><Relationship Type="http://schemas.openxmlformats.org/officeDocument/2006/relationships/image" Target="/ppt/media/image21.png" Id="Rb04d34a79b6d4e3c" /><Relationship Type="http://schemas.openxmlformats.org/officeDocument/2006/relationships/notesSlide" Target="/ppt/notesSlides/notesSlide12.xml" Id="R94a0db99ff3e4e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997454-0795-4739-8F7E-EF4A6AB0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B37A7-8B28-4EBA-9513-57F6EE1C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6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9DB8D-3ECE-4612-A88D-39E80469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4D608-EA2D-4170-92A4-A09DDB2A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721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B8A6"/>
                </a:solidFill>
              </a:defRPr>
            </a:pPr>
            <a:r>
              <a:rPr sz="1350" b="1">
                <a:solidFill>
                  <a:srgbClr val="14B8A6"/>
                </a:solidFill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6A599-1D3F-4C14-AD62-DAC0CFE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59817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Smart Pharmacy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6FB4D-A10F-48F5-9855-BA534E17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701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5F3ED"/>
                </a:solidFill>
              </a:defRPr>
            </a:pPr>
            <a:r>
              <a:rPr sz="2550" b="0">
                <a:solidFill>
                  <a:srgbClr val="D5F3ED"/>
                </a:solidFill>
              </a:rPr>
              <a:t>Faster sales, safer stock, and stronger owner visibility.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42602-AFFD-4E14-A1F1-7FD8A84D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12180"/>
            <a:ext cx="3527584" cy="83439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82409-3111-4074-96E8-7DC62629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7220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B8A6"/>
                </a:solidFill>
              </a:defRPr>
            </a:pPr>
            <a:r>
              <a:rPr sz="1125" b="1">
                <a:solidFill>
                  <a:srgbClr val="14B8A6"/>
                </a:solidFill>
              </a:rPr>
              <a:t>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1851E-D984-4CF6-8C72-1578646B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POS + Stock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5D67B-C2A0-4217-BA45-F28EB06D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284" y="6012180"/>
            <a:ext cx="3527584" cy="83439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1F4F0-0543-4A09-BF3B-923114C1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7220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E2CB6-F7BE-4CAC-BF73-71824D06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817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Approvals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F55C6-EDBA-45CF-85E0-9C9EDCB8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218" y="1943100"/>
            <a:ext cx="6165533" cy="6191250"/>
          </a:xfrm>
          <a:prstGeom xmlns:a="http://schemas.openxmlformats.org/drawingml/2006/main" prst="roundRect">
            <a:avLst>
              <a:gd name="adj" fmla="val 1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4" name="dashboard-cov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91dcd27634db6"/>
          <a:srcRect xmlns:a="http://schemas.openxmlformats.org/drawingml/2006/main" l="18885" t="0" r="18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180000">
            <a:off x="8712518" y="2057400"/>
            <a:ext cx="5936933" cy="5962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C1772-B03F-48FA-93A4-078AEF87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657350"/>
            <a:ext cx="2476500" cy="4953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6" name="mobile-cov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e238871c44e53"/>
          <a:srcRect xmlns:a="http://schemas.openxmlformats.org/drawingml/2006/main" l="0" t="1442" r="0" b="14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68550" y="1771650"/>
            <a:ext cx="2247900" cy="47244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A719F-469B-4FD4-B2A5-9C6CEFD2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681990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8" name="pos-mini-cov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ba4301a864cb0"/>
          <a:srcRect xmlns:a="http://schemas.openxmlformats.org/drawingml/2006/main" l="0" t="508" r="0" b="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68550" y="6934200"/>
            <a:ext cx="2247900" cy="13906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91115-B069-4350-BE12-95E766F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10700"/>
            <a:ext cx="721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EDE3"/>
                </a:solidFill>
              </a:defRPr>
            </a:pPr>
            <a:r>
              <a:rPr sz="1350" b="0">
                <a:solidFill>
                  <a:srgbClr val="B9EDE3"/>
                </a:solidFill>
              </a:rPr>
              <a:t>Proposal deck | May 2026</a:t>
            </a:r>
          </a:p>
        </p:txBody>
      </p:sp>
    </p:spTree>
    <p:extLst>
      <p:ext uri="{BB962C8B-B14F-4D97-AF65-F5344CB8AC3E}">
        <p14:creationId xmlns:p14="http://schemas.microsoft.com/office/powerpoint/2010/main" val="929829928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85041D-4B89-4E6A-B1FA-6B248193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EEED7-B549-4196-8912-6803E888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PROBLEM DESCRIPTION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AE791-A253-4A59-9DE2-65D85D24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11633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Pharmacies move fast, but control often moves slowly.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7D818-CFA8-41E9-82A5-D2F94986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0725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75569"/>
                </a:solidFill>
              </a:defRPr>
            </a:pPr>
            <a:r>
              <a:rPr sz="2175" b="0">
                <a:solidFill>
                  <a:srgbClr val="475569"/>
                </a:solidFill>
              </a:rPr>
              <a:t>When POS, stock, expiry, returns, cash, and branch decisions are separated, the owner loses the full operating picture.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237A2-30E2-4754-9EB8-56D7142C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162F5-0105-427E-B944-5FE193B7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Stock can look available even when it is expired, damaged, or sold.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416AB-09A1-4C32-B257-9960BA08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32CB5-6915-4FBC-8A1A-32A1AB50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681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Cash closing becomes difficult when expenses and refunds sit elsewhere.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22687-CE87-4607-B7E8-70034546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6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68C73-29D2-4BB7-B626-0B0541E4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67450"/>
            <a:ext cx="681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Approvals are delayed when sensitive actions depend on informal messages.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01D03-78A2-4792-86A9-B24FC4FB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02BEB-0F27-423B-9EC2-A8A55DAE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10400"/>
            <a:ext cx="681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Managers see the problem late, after losses or shortages have already happened.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CE1D4-7587-42A6-9439-A433D886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3695700"/>
            <a:ext cx="8993124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4" name="inventory-ris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10a329d7e44d0"/>
          <a:srcRect xmlns:a="http://schemas.openxmlformats.org/drawingml/2006/main" l="0" t="21657" r="0" b="216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0026" y="3810000"/>
            <a:ext cx="8764524" cy="3105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7F26C-9545-40C9-ADA2-E2DD150A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7239000"/>
            <a:ext cx="4401312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6" name="daily-closing-ris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ece1b3170477c"/>
          <a:srcRect xmlns:a="http://schemas.openxmlformats.org/drawingml/2006/main" l="0" t="21512" r="0" b="21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0026" y="7353300"/>
            <a:ext cx="4172712" cy="14859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E64F2-41FE-480D-9BB4-AF1F59B6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7538" y="7239000"/>
            <a:ext cx="4401312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8" name="sales-return-ris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b3a787b9b46af"/>
          <a:srcRect xmlns:a="http://schemas.openxmlformats.org/drawingml/2006/main" l="0" t="21512" r="0" b="21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81838" y="7353300"/>
            <a:ext cx="4172712" cy="14859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62255-4CD5-4C52-910C-ACC35363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67850"/>
            <a:ext cx="706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Smart Pharmacy | POS + Inventory + Finance + Alerts + Reports</a:t>
            </a:r>
          </a:p>
        </p:txBody>
      </p:sp>
    </p:spTree>
    <p:extLst>
      <p:ext uri="{BB962C8B-B14F-4D97-AF65-F5344CB8AC3E}">
        <p14:creationId xmlns:p14="http://schemas.microsoft.com/office/powerpoint/2010/main" val="1034838196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3B1CDC-5EB1-470B-AC99-14DB290E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59F89-91A1-4434-AAFD-A7C83115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6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CE90E-CF7D-4CC6-B003-DFA1BD7E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F010F-00E2-44E6-B1C9-F4B2C741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DISCOVERY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AA9A1-9827-4519-85ED-A5AF7BEE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09650"/>
            <a:ext cx="9525000" cy="2343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The system is needed where every movement touches another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BC199-9342-4CD6-BBF8-2E0036CE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883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5F3ED"/>
                </a:solidFill>
              </a:defRPr>
            </a:pPr>
            <a:r>
              <a:rPr sz="2175" b="0">
                <a:solidFill>
                  <a:srgbClr val="D5F3ED"/>
                </a:solidFill>
              </a:rPr>
              <a:t>A sale touches stock. A return touches revenue and batch quantity. An expense touches closing. A transfer touches two branches.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48BE5-087B-4DD9-B5C2-24C19ABD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8650"/>
            <a:ext cx="8086725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8" name="quick-search-discove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4c254f6f4401d"/>
          <a:srcRect xmlns:a="http://schemas.openxmlformats.org/drawingml/2006/main" l="1901" t="0" r="19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96425" y="742950"/>
            <a:ext cx="7858125" cy="5105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BBA38-C565-47DF-B0E5-F36E6439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48400"/>
            <a:ext cx="3967163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1CE90-772E-4581-9FA1-C481ACEB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008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MOVEMENT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8A930-9778-4600-9B79-A4672F8C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10350"/>
            <a:ext cx="358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Recorded once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C77DF-3BE2-4F0F-BE06-30E5B611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713" y="6248400"/>
            <a:ext cx="3967163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D4506-7F2B-4FA4-AE32-544DAB9B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4008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PERMISSION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90A97-9D6F-4BA2-BACA-7499DBA3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610350"/>
            <a:ext cx="358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Controlled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0CD82-B401-4615-832E-A1D4E479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86700"/>
            <a:ext cx="3967163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AB14E-4869-44B1-9081-5C171561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0391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B8A6"/>
                </a:solidFill>
              </a:defRPr>
            </a:pPr>
            <a:r>
              <a:rPr sz="1125" b="1">
                <a:solidFill>
                  <a:srgbClr val="14B8A6"/>
                </a:solidFill>
              </a:rPr>
              <a:t>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EFB9F-F2C8-4DC4-BB3A-40616EF7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248650"/>
            <a:ext cx="358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Visible outcome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3A8D0-D598-4571-AB5F-DC751A24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713" y="7886700"/>
            <a:ext cx="3967163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FD9EF-D07F-41B4-935E-01366C2F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80391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9FB40-18BC-4C5C-9E7A-9D3F12F9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8248650"/>
            <a:ext cx="358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Traceable user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41081-9B5A-451E-930D-CCDC2291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248400"/>
            <a:ext cx="8096250" cy="312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EDE3"/>
                </a:solidFill>
              </a:defRPr>
            </a:pPr>
            <a:r>
              <a:rPr sz="1650" b="0">
                <a:solidFill>
                  <a:srgbClr val="B9EDE3"/>
                </a:solidFill>
              </a:rPr>
              <a:t>Discovery outcome: the pharmacy does not need another isolated screen. It needs one connected operating layer.</a:t>
            </a:r>
          </a:p>
        </p:txBody>
      </p:sp>
    </p:spTree>
    <p:extLst>
      <p:ext uri="{BB962C8B-B14F-4D97-AF65-F5344CB8AC3E}">
        <p14:creationId xmlns:p14="http://schemas.microsoft.com/office/powerpoint/2010/main" val="232206094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C702F8-2174-49EE-8756-169CD8C5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1B91F-C591-4416-A04A-45572721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E03F3-95B8-4C94-836F-8591112E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22110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Smart Pharmacy brings the operating layer into one responsive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6ED95-023C-45C3-9651-6765F6B8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04965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75569"/>
                </a:solidFill>
              </a:defRPr>
            </a:pPr>
            <a:r>
              <a:rPr sz="2175" b="0">
                <a:solidFill>
                  <a:srgbClr val="475569"/>
                </a:solidFill>
              </a:rPr>
              <a:t>The same platform connects products, suppliers, purchases, batches, sales, returns, expenses, closing, reports, alerts, and audit logs.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62B0B-598B-458C-A205-BB0937BE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46407-9942-4E99-A321-7ACCA3BD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054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One role-based shell for all daily modules.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C92EE-C0F8-40A2-B29D-E0A9A35B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BB039-9482-4DFE-8A6B-EFA4DB2C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Inventory updates from real business movements.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71C58-2133-4728-87DD-668EF84B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19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9B33A-377B-4E05-9DA9-018DE024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198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Topbar alerts and system messages keep action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C2A1B-95CF-40DC-B064-37DB0B7F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7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DCFF3-A95A-4316-BBE5-EC65A0B1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770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Reports and dashboards turn records into owner decisions.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62C93-E74D-4116-9D12-D14ACBD1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3478530"/>
            <a:ext cx="8993124" cy="590550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4" name="dashboard-solu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58d7a07004c57"/>
          <a:srcRect xmlns:a="http://schemas.openxmlformats.org/drawingml/2006/main" l="1753" t="0" r="1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0026" y="3592830"/>
            <a:ext cx="8764524" cy="56769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A007E-7A18-4422-82D9-FD5EA164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67850"/>
            <a:ext cx="706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Smart Pharmacy | POS + Inventory + Finance + Alerts + Reports</a:t>
            </a:r>
          </a:p>
        </p:txBody>
      </p:sp>
    </p:spTree>
    <p:extLst>
      <p:ext uri="{BB962C8B-B14F-4D97-AF65-F5344CB8AC3E}">
        <p14:creationId xmlns:p14="http://schemas.microsoft.com/office/powerpoint/2010/main" val="1461115086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84C88-F134-4685-8A1A-0B96450D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D260B-4DB1-45ED-813F-C3B8389E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FAST SALES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FF887-CE2E-4C9A-AF07-7C539625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06299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POS is designed for speed without losing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E9445-0C9B-482A-BBA7-B7B4D6CE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0401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75569"/>
                </a:solidFill>
              </a:defRPr>
            </a:pPr>
            <a:r>
              <a:rPr sz="2175" b="0">
                <a:solidFill>
                  <a:srgbClr val="475569"/>
                </a:solidFill>
              </a:rPr>
              <a:t>Search, select, discount, payment, customer details, receipt, and today sales stay in one work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56439-F9C6-41DD-9A3A-357C20C6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E9215-6F75-4BC2-8BAF-6F47BE41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054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Search medicine by name, category, type, code, or barcode.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241AA-76E4-4199-97C4-405D2E41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C2FED-AA6D-48F8-9AA7-FCCE3C57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Retail and wholesale modes support different selling contexts.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F5B1B-2C0F-4AB2-88C0-30ED920C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19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678FD-AA65-48B3-A40E-00AB2929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198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Inventory decreases immediately after sale completion.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132AD-EF6F-4BC4-A7CE-4B017885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7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2CA3A-0B8F-45F7-90E1-E176D9B4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770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Cashier can record POS expenses without leaving the sales 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0FE2A-2D39-4D14-B773-7422BE24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3478530"/>
            <a:ext cx="8993124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4" name="pos-detai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7a16a74304918"/>
          <a:srcRect xmlns:a="http://schemas.openxmlformats.org/drawingml/2006/main" l="4065" t="0" r="40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0026" y="3592830"/>
            <a:ext cx="8764524" cy="5962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52CD5-A155-4016-9C4B-3CF65865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67850"/>
            <a:ext cx="706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Smart Pharmacy | POS + Inventory + Finance + Alerts + Reports</a:t>
            </a:r>
          </a:p>
        </p:txBody>
      </p:sp>
    </p:spTree>
    <p:extLst>
      <p:ext uri="{BB962C8B-B14F-4D97-AF65-F5344CB8AC3E}">
        <p14:creationId xmlns:p14="http://schemas.microsoft.com/office/powerpoint/2010/main" val="1823366508"/>
      </p:ext>
    </p:extLst>
  </p:cSld>
  <p:transition spd="med" advClick="1">
    <p:fade/>
  </p:transition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29F920-016E-4E68-A6AF-B3AD2996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A85C7-9DFA-4C2F-B0C1-62BB9082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STOCK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1DB9B-46F9-439F-A01C-59E08B29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10109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Inventory is tracked by branch, product, batch, expiry, quantity, cost, and status.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B84CA-B072-4F2B-A993-1EDF4476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0648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75569"/>
                </a:solidFill>
              </a:defRPr>
            </a:pPr>
            <a:r>
              <a:rPr sz="2175" b="0">
                <a:solidFill>
                  <a:srgbClr val="475569"/>
                </a:solidFill>
              </a:rPr>
              <a:t>That structure protects the business from silent stock loss and protects customers from expired products.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76E35-FFB6-4A16-942F-75A7E78B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04F97-4CFD-4318-845D-E31BAEB1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054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Batch and expiry records make risk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3B1FD-A544-46B9-BF82-1B38D34F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E8B18-80C1-48B6-92E8-212AAE19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Low stock and expiring items become action points.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DA599-68C4-4FF5-89FA-BD198140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19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92FEE-258E-4016-98A8-B1076DCD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198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Movements show before and after balances.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AFDB2-CACB-44AA-8A50-03A14565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7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DE7FB-590E-4EC3-BAFF-CFCDB4FC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770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Automatic expiry write-off can remove unsafe stock from sale.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06132-073D-4895-9D18-AD592FD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3478530"/>
            <a:ext cx="8993124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4" name="inventory-detai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5ddd968bf4f60"/>
          <a:srcRect xmlns:a="http://schemas.openxmlformats.org/drawingml/2006/main" l="4065" t="0" r="40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0026" y="3592830"/>
            <a:ext cx="8764524" cy="5962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834E1-138A-42C8-9AF5-59391378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67850"/>
            <a:ext cx="706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Smart Pharmacy | POS + Inventory + Finance + Alerts + Reports</a:t>
            </a:r>
          </a:p>
        </p:txBody>
      </p:sp>
    </p:spTree>
    <p:extLst>
      <p:ext uri="{BB962C8B-B14F-4D97-AF65-F5344CB8AC3E}">
        <p14:creationId xmlns:p14="http://schemas.microsoft.com/office/powerpoint/2010/main" val="979190275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C01C2-1AF3-4B16-863F-B9B82C4E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4D39A-3ECE-477A-8C6A-9DF9A220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CONTROLLED APPROVALS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387D8-A508-42DA-A01C-8BA40D4C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15824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Sensitive stock and finance actions are separated from normal entry.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3D32B-75A3-4ADD-967E-BB6CEB05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9963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75569"/>
                </a:solidFill>
              </a:defRPr>
            </a:pPr>
            <a:r>
              <a:rPr sz="2175" b="0">
                <a:solidFill>
                  <a:srgbClr val="475569"/>
                </a:solidFill>
              </a:rPr>
              <a:t>Users can create requests, while trusted roles approve, reject, verify, dispatch, receive, or recalculate.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743CD-0B57-4DE3-8155-291AE6D9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092CD-DB8A-47D0-8A20-C134E572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Sales returns require review before stock and finance are affected.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F12D3-80D7-49FE-902E-86EA5988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74F43-68CC-440D-888A-1C786FD5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681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Stock adjustments protect against unapproved shrinkage or found stock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C2F66-A6CF-40EF-9958-2AB0F336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5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C5278-733B-4222-94BF-699BBFC3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5320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Transfers separate request, approval, dispatch, and receiving.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4B140-0AA5-4AE1-AEC1-AB86FA59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20081-CB4B-4059-BED7-4FB8DA9F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1040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Daily closing verification keeps cash accountability clean.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BF81C-8EAE-492B-9A1B-395C03B0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3657600"/>
            <a:ext cx="8993124" cy="2809875"/>
          </a:xfrm>
          <a:prstGeom xmlns:a="http://schemas.openxmlformats.org/drawingml/2006/main" prst="roundRect">
            <a:avLst>
              <a:gd name="adj" fmla="val 40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4" name="transfer-approv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b8360bf4b454b"/>
          <a:srcRect xmlns:a="http://schemas.openxmlformats.org/drawingml/2006/main" l="0" t="26439" r="0" b="264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0026" y="3771900"/>
            <a:ext cx="8764524" cy="25812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D2C5F-8AD4-4119-B542-03A9E58E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6657975"/>
            <a:ext cx="8993124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6" name="adjustment-approv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fc78ced934e66"/>
          <a:srcRect xmlns:a="http://schemas.openxmlformats.org/drawingml/2006/main" l="0" t="30786" r="0" b="30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0026" y="6772275"/>
            <a:ext cx="8764524" cy="21050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3F846-F176-4951-AD78-68B5F4AE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67850"/>
            <a:ext cx="706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Smart Pharmacy | POS + Inventory + Finance + Alerts + Reports</a:t>
            </a:r>
          </a:p>
        </p:txBody>
      </p:sp>
    </p:spTree>
    <p:extLst>
      <p:ext uri="{BB962C8B-B14F-4D97-AF65-F5344CB8AC3E}">
        <p14:creationId xmlns:p14="http://schemas.microsoft.com/office/powerpoint/2010/main" val="640198625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F96776-DB76-4E23-B27D-0928BD58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03EB6-F4B0-438B-91AF-752FF049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OWNER VISIBILITY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E1B3E-E823-4F90-B684-2488361B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2573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owner can see performance, risk, and exceptions without waiting for manual summaries.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E812C-4421-49C9-9F5B-E9DB5B1E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9810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75569"/>
                </a:solidFill>
              </a:defRPr>
            </a:pPr>
            <a:r>
              <a:rPr sz="2175" b="0">
                <a:solidFill>
                  <a:srgbClr val="475569"/>
                </a:solidFill>
              </a:rPr>
              <a:t>Dashboards and reports convert daily transactions into sales, stock, profit, expense, and accountability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327BE-16DE-4742-AEC3-11A533BC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EC233-A723-4568-B747-73313F87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Revenue, gross profit, net profit, and cost sold are visible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42F25-9484-4505-97A7-BD9A2C18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AB179-833B-4B75-84BC-E730344C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Top products and trends support restocking and pricing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AB59A-0DD3-47FF-8E9F-8C934DF1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6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7CDB0-4DC7-43F8-9B25-88E103F0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67450"/>
            <a:ext cx="681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Report center centralizes sales, stock, purchase, profit, expense, and prescription reporting.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3E3E7-7695-49A3-86F8-3D618CB1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54D9E-DF47-4318-9C46-776C3B6A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1040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Activity logs preserve who did what and when.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077B4-8EE2-479F-8BD1-2710B0BC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3633788"/>
            <a:ext cx="8993124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4" name="profit-repo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d38757a5f4f80"/>
          <a:srcRect xmlns:a="http://schemas.openxmlformats.org/drawingml/2006/main" l="0" t="25135" r="0" b="25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0026" y="3748088"/>
            <a:ext cx="8764524" cy="2724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2E50F-7883-4F3F-B15F-326F72E5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6777038"/>
            <a:ext cx="8993124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6" name="report-cent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7a6d31a2d489a"/>
          <a:srcRect xmlns:a="http://schemas.openxmlformats.org/drawingml/2006/main" l="0" t="31655" r="0" b="316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0026" y="6891338"/>
            <a:ext cx="8764524" cy="20097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D7401-EAB5-4E88-9AE3-E7F2321B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67850"/>
            <a:ext cx="706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Smart Pharmacy | POS + Inventory + Finance + Alerts + Reports</a:t>
            </a:r>
          </a:p>
        </p:txBody>
      </p:sp>
    </p:spTree>
    <p:extLst>
      <p:ext uri="{BB962C8B-B14F-4D97-AF65-F5344CB8AC3E}">
        <p14:creationId xmlns:p14="http://schemas.microsoft.com/office/powerpoint/2010/main" val="1694761714"/>
      </p:ext>
    </p:extLst>
  </p:cSld>
  <p:transition spd="med" advClick="1">
    <p:fade/>
  </p:transition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4FD133-AF91-466A-AFB1-261C4889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3DAFF-2158-451E-ACB9-49779647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6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833D4-304A-4F64-AA7E-A5AF12CD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02E39-DD18-40F4-91DD-937FB04F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B8A6"/>
                </a:solidFill>
              </a:defRPr>
            </a:pPr>
            <a:r>
              <a:rPr sz="1350" b="1">
                <a:solidFill>
                  <a:srgbClr val="14B8A6"/>
                </a:solidFill>
              </a:rPr>
              <a:t>RESPONSIVE ONLINE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D1EDD-57A9-4E22-BFB7-68B5AAD4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1550"/>
            <a:ext cx="104394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One system, from counter screen to phone screen.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2A1E6-1B84-4325-BF71-0AFD5942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04965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5F3ED"/>
                </a:solidFill>
              </a:defRPr>
            </a:pPr>
            <a:r>
              <a:rPr sz="2175" b="0">
                <a:solidFill>
                  <a:srgbClr val="D5F3ED"/>
                </a:solidFill>
              </a:rPr>
              <a:t>Smart Pharmacy is web-based and responsive, so managers and authorized users can monitor operations across desktop, tablet, and mobile views.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FB857-88E7-41CA-A7F3-02E76274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73F88-3FDC-411B-900B-6FA47A09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699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5F3ED"/>
                </a:solidFill>
              </a:defRPr>
            </a:pPr>
            <a:r>
              <a:rPr sz="1875" b="0">
                <a:solidFill>
                  <a:srgbClr val="D5F3ED"/>
                </a:solidFill>
              </a:rPr>
              <a:t>No separate desktop-only reporting habit.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A09B7-93E9-4C82-A159-3F282448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72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E9133-370B-418C-91D4-BD11F428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72200"/>
            <a:ext cx="699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5F3ED"/>
                </a:solidFill>
              </a:defRPr>
            </a:pPr>
            <a:r>
              <a:rPr sz="1875" b="0">
                <a:solidFill>
                  <a:srgbClr val="D5F3ED"/>
                </a:solidFill>
              </a:rPr>
              <a:t>Mobile dashboards keep owner visibility alive away from the branch.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12BA8-BD0F-484B-870E-E24767D5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29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0D942-E83B-4BAA-A578-981C16EC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29400"/>
            <a:ext cx="699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5F3ED"/>
                </a:solidFill>
              </a:defRPr>
            </a:pPr>
            <a:r>
              <a:rPr sz="1875" b="0">
                <a:solidFill>
                  <a:srgbClr val="D5F3ED"/>
                </a:solidFill>
              </a:rPr>
              <a:t>Counter POS and smaller operational views share the same data source.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3C285-866C-4F7F-BA38-1B50A06D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031" y="3638550"/>
            <a:ext cx="2095500" cy="5334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4" name="mobile-dashboar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c0251d0ea41a3"/>
          <a:srcRect xmlns:a="http://schemas.openxmlformats.org/drawingml/2006/main" l="10432" t="0" r="104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6331" y="3752850"/>
            <a:ext cx="1866900" cy="51054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1F461-7E0A-4006-87C3-E30C326B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231" y="3638550"/>
            <a:ext cx="2095500" cy="5334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6" name="mobile-po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5f765b1094615"/>
          <a:srcRect xmlns:a="http://schemas.openxmlformats.org/drawingml/2006/main" l="10432" t="0" r="104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08531" y="3752850"/>
            <a:ext cx="1866900" cy="51054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6A44D-E2A2-48B5-90CF-F08CCB78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6431" y="4876800"/>
            <a:ext cx="4095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8" name="desktop-dashboard-smal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077f8c80e4c28"/>
          <a:srcRect xmlns:a="http://schemas.openxmlformats.org/drawingml/2006/main" l="4031" t="0" r="40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70731" y="4991100"/>
            <a:ext cx="3867150" cy="26289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AAC1C-5B21-4569-B18E-E6849ABA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EDE3"/>
                </a:solidFill>
              </a:defRPr>
            </a:pPr>
            <a:r>
              <a:rPr sz="1425" b="0">
                <a:solidFill>
                  <a:srgbClr val="B9EDE3"/>
                </a:solidFill>
              </a:rPr>
              <a:t>Responsive first: one login, one data source, multiple screen sizes.</a:t>
            </a:r>
          </a:p>
        </p:txBody>
      </p:sp>
    </p:spTree>
    <p:extLst>
      <p:ext uri="{BB962C8B-B14F-4D97-AF65-F5344CB8AC3E}">
        <p14:creationId xmlns:p14="http://schemas.microsoft.com/office/powerpoint/2010/main" val="1173960973"/>
      </p:ext>
    </p:extLst>
  </p:cSld>
  <p:transition spd="med" advClick="1">
    <p:fade/>
  </p:transition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CD255-5AAD-43AA-B16E-CE9D24F5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D2FD7-2353-4FF7-BCBC-F7A497D8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WHY THIS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D5DB6-44DC-4A9A-952A-88B97C47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12966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It is advised because it controls the full pharmacy workflow, not only the receipt.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2C2D8-6791-4599-9388-E1D0C426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1270"/>
            <a:ext cx="3990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EBF56-5A9F-48A6-8249-9000B1B1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Ordinary POS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E3CE5-3349-4D99-84A8-EEFA12DF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41270"/>
            <a:ext cx="3990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BD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EDB74-DCF1-46CB-81F2-B918ADB5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Smart Pharmacy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7A3A1-E273-4371-A2CC-12AF4FBB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8970"/>
            <a:ext cx="39909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252BB-65D4-40EB-88A6-80A36ADF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Sales screen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14A35-C83C-4646-AA42-00C84FB9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88970"/>
            <a:ext cx="39909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BD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D8F1B-342E-4D5C-A46E-86E554CC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147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Sales + inventory + finance + 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241E9-3702-4DD3-83BA-6AC20EB6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8120"/>
            <a:ext cx="39909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58D27-773C-481D-A5FB-86F9A291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Manual expiry checking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7ED7A-84FB-485B-A820-A9C4A198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08120"/>
            <a:ext cx="39909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BD2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49CF9-3BA7-4474-AB4E-DD7A780C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3385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Expiry alerts and write-off readiness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863BB-596C-4F6C-8F3F-A2E15B54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7270"/>
            <a:ext cx="39909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6CCC8-EC03-4526-BED0-50B0573B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Informal approvals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19769-744D-4233-9B6B-F03E9D9F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27270"/>
            <a:ext cx="39909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BD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15FF0-A8B2-4B08-B095-DD9BE5CA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Permission-based approval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5B50A-2ED2-42A5-89BD-66CE7941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46420"/>
            <a:ext cx="39909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96B509-E5F2-4B14-873E-15FFE1FB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Computer-bound 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320F3-E2E9-488D-8A66-AA3ABE18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646420"/>
            <a:ext cx="39909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BD2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A4B8E1-3F22-4A8B-ABA5-A762A88C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7215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Responsive online access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71B7B-B850-4C9B-916A-3187502A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65570"/>
            <a:ext cx="39909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87A070-0C57-427A-9304-607B5F87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913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Hard to extend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6601B-6891-4BA4-B504-3FA2BDD2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65570"/>
            <a:ext cx="39909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BD2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CBE7ED-2C32-4717-8AE3-E004129A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5913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AI and communication-ready roadmap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56BB08-F0F2-40DF-A93B-BF7FA60B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41270"/>
            <a:ext cx="807720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29" name="product-setup-wh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973ae3d8348a4"/>
          <a:srcRect xmlns:a="http://schemas.openxmlformats.org/drawingml/2006/main" l="2839" t="0" r="28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05950" y="2655570"/>
            <a:ext cx="7848600" cy="52006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1AC1A0-3CD7-4284-A98F-5D564222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807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Decision read: choose the system that connects daily speed with management control.</a:t>
            </a:r>
          </a:p>
        </p:txBody>
      </p:sp>
    </p:spTree>
    <p:extLst>
      <p:ext uri="{BB962C8B-B14F-4D97-AF65-F5344CB8AC3E}">
        <p14:creationId xmlns:p14="http://schemas.microsoft.com/office/powerpoint/2010/main" val="891149355"/>
      </p:ext>
    </p:extLst>
  </p:cSld>
  <p:transition spd="med" advClick="1">
    <p:fade/>
  </p:transition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8B7F99-6FFF-4B72-B3B5-B061EC73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EFDD0-7983-40CD-AA54-8686331A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FUTURE IMPROVEMENT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789DE-ED90-4DA6-B5E1-00F88148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19634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AI and communication make the system proactive.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40BAE-4214-4F32-B46C-D32640C2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1010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75569"/>
                </a:solidFill>
              </a:defRPr>
            </a:pPr>
            <a:r>
              <a:rPr sz="2175" b="0">
                <a:solidFill>
                  <a:srgbClr val="475569"/>
                </a:solidFill>
              </a:rPr>
              <a:t>The next layer can turn system events into the right message, sent to the right person, through the right channel.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5BA73-7BF3-4177-B206-B2B09CF9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41508-8896-4D4B-9167-C230D6AA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681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AI assistant for stock risk, report summaries, product lookup, and management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D191D-0FB6-4D45-B211-136FEB0A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7000F-0B3C-4E0A-B026-6DC62D27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681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Internal communication for approvals, tasks, branch notes, and issue follow-up.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5F97C-7CDE-4FD0-8DD5-552A3D23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5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E03B1-FA83-4D8D-9623-83B2DCC2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53200"/>
            <a:ext cx="681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SMS, email, and WhatsApp for alerts, receipts, customer reminders, and owner summaries.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E7C43-D37D-4FF0-B303-9E0915F0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96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A6E8A-B04F-4DA0-A6C0-0A592825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961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Permission-aware AI so assistance never bypasses system access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905EB-6F8C-4459-8D24-2565F361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3609975"/>
            <a:ext cx="8993124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4" name="quick-search-ai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615f03283485c"/>
          <a:srcRect xmlns:a="http://schemas.openxmlformats.org/drawingml/2006/main" l="0" t="23396" r="0" b="233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0026" y="3724275"/>
            <a:ext cx="8764524" cy="2914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7A7CB-E03F-4247-97FD-986037CF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6943725"/>
            <a:ext cx="8993124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16" name="activity-ai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72b22ba764b81"/>
          <a:srcRect xmlns:a="http://schemas.openxmlformats.org/drawingml/2006/main" l="0" t="32959" r="0" b="329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0026" y="7058025"/>
            <a:ext cx="8764524" cy="18669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DE544-079F-4D66-8E6B-B6CBD814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67850"/>
            <a:ext cx="706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Smart Pharmacy | POS + Inventory + Finance + Alerts + Reports</a:t>
            </a:r>
          </a:p>
        </p:txBody>
      </p:sp>
    </p:spTree>
    <p:extLst>
      <p:ext uri="{BB962C8B-B14F-4D97-AF65-F5344CB8AC3E}">
        <p14:creationId xmlns:p14="http://schemas.microsoft.com/office/powerpoint/2010/main" val="601856678"/>
      </p:ext>
    </p:extLst>
  </p:cSld>
  <p:transition spd="med" advClick="1">
    <p:fade/>
  </p:transition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1AC1C1-5BB9-44A5-9251-6136DCC1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DA57B-D2FB-4EAE-9A04-4AEEF5D9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6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A8427-6ED9-4B3A-9D03-266C928B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67197-812E-4BAD-9CA9-5D841FD0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B8A6"/>
                </a:solidFill>
              </a:defRPr>
            </a:pPr>
            <a:r>
              <a:rPr sz="1350" b="1">
                <a:solidFill>
                  <a:srgbClr val="14B8A6"/>
                </a:solidFill>
              </a:rPr>
              <a:t>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33D31-54FA-418D-AB7F-6F59404B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1550"/>
            <a:ext cx="108394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Move forward with Smart Pharmacy as the operating foundation.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D821B-02AF-4D6E-BA2E-D5211A70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0934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5F3ED"/>
                </a:solidFill>
              </a:defRPr>
            </a:pPr>
            <a:r>
              <a:rPr sz="2250" b="0">
                <a:solidFill>
                  <a:srgbClr val="D5F3ED"/>
                </a:solidFill>
              </a:rPr>
              <a:t>Start with the MVP core, then expand into AI, internal communication, SMS, email, WhatsApp, integrations, and owner mobile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AE44F-CA4E-4E59-B803-008AEAD8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9585"/>
            <a:ext cx="8451056" cy="83439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F8C82-7EC3-4C38-9860-4AB36567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807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B8A6"/>
                </a:solidFill>
              </a:defRPr>
            </a:pPr>
            <a:r>
              <a:rPr sz="1125" b="1">
                <a:solidFill>
                  <a:srgbClr val="14B8A6"/>
                </a:solidFill>
              </a:rPr>
              <a:t>PHASE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EAFAA-1113-4CA9-864C-37FA1146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807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Setup + Product + 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F2ED5-3627-4079-AF2B-B7153F3E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8451056" cy="83439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5DDFB-9A36-435A-84D9-3433BCB6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67350"/>
            <a:ext cx="807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A5986-E492-463D-A9CD-CAB79DAF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76900"/>
            <a:ext cx="807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POS + Purchases + Inventory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510FF-3FCE-44A0-BF47-A4A6E47B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11265"/>
            <a:ext cx="8451056" cy="83439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F5E0A-265F-4728-A973-B42E829C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57950"/>
            <a:ext cx="807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PHASE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754A6-7364-48E2-BA58-DF05BB47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0"/>
            <a:ext cx="807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Approvals + Alerts +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9E587-4EE8-44FA-BBB5-BA0A1C78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17105"/>
            <a:ext cx="8451056" cy="83439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FBD93-A95A-440E-AAE1-8E08A87C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467600"/>
            <a:ext cx="807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B8A6"/>
                </a:solidFill>
              </a:defRPr>
            </a:pPr>
            <a:r>
              <a:rPr sz="1125" b="1">
                <a:solidFill>
                  <a:srgbClr val="14B8A6"/>
                </a:solidFill>
              </a:rPr>
              <a:t>PHASE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1A391-C36E-4B4E-B97C-EEDE153D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677150"/>
            <a:ext cx="807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AI + Communication + Integrations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42138-B3E9-400C-B7B7-723A2C60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656" y="3554730"/>
            <a:ext cx="7646194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8"/>
            </a:solidFill>
            <a:prstDash val="solid"/>
          </a:ln>
        </p:spPr>
      </p:sp>
      <p:pic>
        <p:nvPicPr>
          <p:cNvPr id="20" name="closing-dashboar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d34a79b6d4e3c"/>
          <a:srcRect xmlns:a="http://schemas.openxmlformats.org/drawingml/2006/main" l="8471" t="0" r="84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6956" y="3669030"/>
            <a:ext cx="7417594" cy="5581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7C340-640C-4F3B-9120-6079BA65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01150"/>
            <a:ext cx="8458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9EDE3"/>
                </a:solidFill>
              </a:defRPr>
            </a:pPr>
            <a:r>
              <a:rPr sz="1500" b="0">
                <a:solidFill>
                  <a:srgbClr val="B9EDE3"/>
                </a:solidFill>
              </a:rPr>
              <a:t>Best MVP value: accurate stock, fast sales, controlled approvals, expiry safety, owner visibility, and branch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618155500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2026-05-07T23:50:51.9390000Z</dcterms:created>
  <dcterms:modified xsi:type="dcterms:W3CDTF">2026-05-07T23:50:51.9390000Z</dcterms:modified>
</coreProperties>
</file>